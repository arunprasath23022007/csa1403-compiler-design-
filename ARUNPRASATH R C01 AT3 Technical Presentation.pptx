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1" r:id="rId6"/>
    <p:sldId id="263" r:id="rId7"/>
    <p:sldId id="266" r:id="rId8"/>
    <p:sldId id="264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DDC00-D970-4AB7-9CE0-577C2187C10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CD3BC-3316-4FEB-89D5-2177274C3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4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91EF-720E-6D91-541A-F97FCC07C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5D2A2-7803-F5CB-07C6-1785801FA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470FE-428A-2AC4-C72B-C3F603B8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01981-6971-2BAE-4778-BEC4A9AA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2B224-0B61-E4E8-8597-15995B89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2E31-BDF9-A9BA-5725-F8ABA7F1C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3751-356F-3FC0-D60A-0E96628A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E07B-B906-FE03-D4C1-0BD4EDC3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99834-3420-6E06-F520-BD6B998B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882AD-1D9D-7274-ED9C-C864F610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6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86D7-9E98-1AB8-289E-298B9CB9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96CAC-5B99-06B9-FEC4-926BC3C3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708F0-9FBD-A0AF-051B-2B070DF1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824C3-5005-43C7-A2BF-8AB02DCA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B36D-DCA4-7876-8DBC-45C22879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9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975E-4F69-0190-3CE3-5A280EAF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10B0-FEA6-ACA9-F047-8687D91FC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2C678-6376-CB5C-5E8D-3CD75C95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58515-E925-789B-1969-25F96AFD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54676-5AB5-4FF6-1E68-5218F56C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C0E4E-F531-D44D-8376-82EF8E664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9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9ED9-BDC3-1E7A-D690-A2D5F2DC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77E5A-C368-CE7C-42EC-3D0B7FBE4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6EBD7-E6C5-12A0-E076-2CA1D9E39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1ADBB-5DFD-AE8B-3B3B-1AF27055B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2BE42-C1C0-93BD-8388-5E2348A0B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67DCE-9F32-FA09-199B-BCA8D95E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85C94-8C10-0269-F0BF-50675402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C10A0-0F14-92A9-3750-2B507FCC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02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CEA2-E160-5772-F533-908EBA3A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68A9F-D1C9-5586-BD71-E0B30553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4F54-2F5A-E442-58F6-F25CF94F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D19EA-7B09-0212-AB60-683A5BC9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1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AE83-13C2-3240-B200-B76C0C39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8D21F-1F05-99F1-A9DB-5DED9ADC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D1AD6-1250-3B81-5754-26FBC95B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23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5CF6-C5A3-2B49-40F8-F1962762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0DC47-7DA5-01BE-99DF-C96875D45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FE76F-E590-9C1F-9E7F-B9E566D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8F1D3-6CBC-577A-A13D-DFE99BC6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F19F8-1E2E-6A00-F019-CAF1038D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7433-4B39-15A9-7B08-CEFC477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B132-D164-B979-69EE-C2C01251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E796E-4C11-24E5-000A-7044C1821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A90B2-DF91-D473-2305-8CABF93CD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FFA3E-25D0-A0C9-44AD-21C5A3E4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D9677-CCC4-4730-D75E-FC8DAE27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DF141-434D-94B5-523F-46CEB657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55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EC18-5B72-C85A-6B0D-C551E87E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60974-0325-F6D6-DDF1-12C22635B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224D-82EC-1F59-4F35-94521E20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946D-0973-EB9D-545E-EA637416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75D5-210A-2AB2-20E8-36E36D12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3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8BD70-114E-C022-9E0C-55C652F6F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19FAF-8D4B-9C7D-91CE-B9DD94656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6D14-3505-A918-33B6-B89A3AEF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1A44-0BBC-B380-2FCD-34EE347D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E7C56-065C-0560-1F72-42C1E2D5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8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4232F-581B-B7EE-05FB-C1A52AEF1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E6C23-19A2-B9C1-B7C6-BA1948D4C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DB785-5E07-227B-1318-E80D8D937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09EC1-350A-BADE-E1AC-2A22F2A1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DE8CF-0AE5-42AD-59D7-071C9B325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96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EA98-3A9E-1BC2-2261-50EEA7E0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651819"/>
            <a:ext cx="10900287" cy="468752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I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Processors :</a:t>
            </a:r>
            <a:endParaRPr lang="en-US" sz="5400" b="1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4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Compiler vs Interpreter</a:t>
            </a:r>
            <a:endParaRPr lang="en-US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CSA1403 – COMPILER DESIGN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Supervised by: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10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Arunprasath.R</a:t>
            </a: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Dr . Michael George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192524077                                                                       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</a:t>
            </a:r>
          </a:p>
          <a:p>
            <a:pPr marL="0" indent="0">
              <a:buNone/>
            </a:pP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EE59849-9563-4136-BE64-6C1A6FEB9D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1262" y="112712"/>
            <a:ext cx="10037762" cy="1030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41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BAF1-8C7A-C991-D2DF-059EE574E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48" y="381794"/>
            <a:ext cx="11561379" cy="61192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 algn="ctr">
              <a:buNone/>
            </a:pPr>
            <a:endParaRPr lang="en-IN" sz="3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a Language Processor ?</a:t>
            </a:r>
          </a:p>
          <a:p>
            <a:pPr marL="0" indent="0">
              <a:buNone/>
            </a:pP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processor </a:t>
            </a: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is system software that translates a program written in a </a:t>
            </a:r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high-level language </a:t>
            </a: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(such as C, Java, or Python) into </a:t>
            </a:r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language </a:t>
            </a: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(binary code) so that the computer can understand and execute it.</a:t>
            </a:r>
          </a:p>
          <a:p>
            <a:pPr marL="0" indent="0">
              <a:buNone/>
            </a:pPr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is it Needed?</a:t>
            </a:r>
          </a:p>
          <a:p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Computers understand only machine language (0s and 1s). </a:t>
            </a:r>
          </a:p>
          <a:p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Programmers write code in human-readable languages. </a:t>
            </a:r>
          </a:p>
          <a:p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A language processor acts as a bridge between the programmer and the compute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40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D1AE-91E2-0DC8-7275-2680B2880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3" y="220717"/>
            <a:ext cx="11519338" cy="654794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sz="38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LANGUAGE PROCESSORS</a:t>
            </a:r>
          </a:p>
          <a:p>
            <a:pPr marL="0" indent="0" algn="ctr">
              <a:buNone/>
            </a:pPr>
            <a:endParaRPr lang="en-IN" sz="3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There are three main types of Language Processors:</a:t>
            </a:r>
          </a:p>
          <a:p>
            <a:pPr marL="0" indent="0">
              <a:buNone/>
            </a:pP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 Compiler: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Translates the </a:t>
            </a: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entire source program</a:t>
            </a:r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into machine code at once.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Generates an </a:t>
            </a: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executable file</a:t>
            </a:r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Reports errors after the compilation process is complete. </a:t>
            </a:r>
          </a:p>
          <a:p>
            <a:endParaRPr lang="en-IN" sz="26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Interpreter: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Translates and executes the program </a:t>
            </a: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one statement at a time</a:t>
            </a:r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Does </a:t>
            </a: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not</a:t>
            </a:r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create a separate executable file.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Stops execution immediately when an error is encountered. </a:t>
            </a:r>
            <a:b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26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 Assembler: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Converts </a:t>
            </a:r>
            <a:r>
              <a:rPr lang="en-IN" sz="26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assembly language</a:t>
            </a:r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into machine language.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Produces object code that can be executed by the computer. </a:t>
            </a:r>
          </a:p>
          <a:p>
            <a:r>
              <a:rPr lang="en-IN" sz="2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Used in low-level system programming and embedded systems</a:t>
            </a:r>
          </a:p>
          <a:p>
            <a:pPr marL="0" indent="0">
              <a:buNone/>
            </a:pPr>
            <a:endParaRPr lang="en-IN" sz="3500" b="1"/>
          </a:p>
          <a:p>
            <a:pPr marL="0" indent="0" algn="ctr">
              <a:buNone/>
            </a:pPr>
            <a:endParaRPr lang="en-IN" sz="3500" b="1"/>
          </a:p>
          <a:p>
            <a:pPr marL="0" indent="0" algn="ctr">
              <a:buNone/>
            </a:pPr>
            <a:endParaRPr lang="en-IN" sz="3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90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0921B8-986F-CC31-8D01-534952BB029B}"/>
              </a:ext>
            </a:extLst>
          </p:cNvPr>
          <p:cNvSpPr txBox="1"/>
          <p:nvPr/>
        </p:nvSpPr>
        <p:spPr>
          <a:xfrm>
            <a:off x="136634" y="252248"/>
            <a:ext cx="1183464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</a:p>
          <a:p>
            <a:pPr algn="ctr"/>
            <a:endParaRPr lang="en-I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is a language processor that translates the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entire source code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into machine code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 execution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If the program is error-free, it generates an executable file.</a:t>
            </a:r>
          </a:p>
          <a:p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 PROCESS: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Source Code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↓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Compiler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↓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Object Code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↓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Executable File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↓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Output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C , C++ </a:t>
            </a:r>
          </a:p>
        </p:txBody>
      </p:sp>
    </p:spTree>
    <p:extLst>
      <p:ext uri="{BB962C8B-B14F-4D97-AF65-F5344CB8AC3E}">
        <p14:creationId xmlns:p14="http://schemas.microsoft.com/office/powerpoint/2010/main" val="202245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25DB-2B6D-CD46-989C-6972F7C9E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27" y="178676"/>
            <a:ext cx="11740055" cy="667932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INTERPRETER </a:t>
            </a:r>
          </a:p>
          <a:p>
            <a:pPr marL="0" indent="0" algn="ctr"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Interpreter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is a language processor that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translates and executes the program one statement at a time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It does not generate a separate executable file.</a:t>
            </a:r>
          </a:p>
          <a:p>
            <a:pPr marL="0" indent="0">
              <a:buNone/>
            </a:pP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PROCESS:</a:t>
            </a:r>
          </a:p>
          <a:p>
            <a:pPr marL="0" indent="0">
              <a:buNone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↓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Interpreter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↓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Translate &amp; Execute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(Line by Line)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↓</a:t>
            </a:r>
          </a:p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Output</a:t>
            </a:r>
          </a:p>
          <a:p>
            <a:pPr marL="0" indent="0">
              <a:buNone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Python , JavaScript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84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F542-2F67-BA08-008C-90DA218E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3" y="551796"/>
            <a:ext cx="10367962" cy="4887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br>
              <a:rPr lang="en-US" b="1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8A0D621-9ECA-D459-B9E7-3050C7AA4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817547"/>
              </p:ext>
            </p:extLst>
          </p:nvPr>
        </p:nvGraphicFramePr>
        <p:xfrm>
          <a:off x="388883" y="1124606"/>
          <a:ext cx="11393214" cy="540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7738">
                  <a:extLst>
                    <a:ext uri="{9D8B030D-6E8A-4147-A177-3AD203B41FA5}">
                      <a16:colId xmlns:a16="http://schemas.microsoft.com/office/drawing/2014/main" val="2643977079"/>
                    </a:ext>
                  </a:extLst>
                </a:gridCol>
                <a:gridCol w="3797738">
                  <a:extLst>
                    <a:ext uri="{9D8B030D-6E8A-4147-A177-3AD203B41FA5}">
                      <a16:colId xmlns:a16="http://schemas.microsoft.com/office/drawing/2014/main" val="1953204237"/>
                    </a:ext>
                  </a:extLst>
                </a:gridCol>
                <a:gridCol w="3797738">
                  <a:extLst>
                    <a:ext uri="{9D8B030D-6E8A-4147-A177-3AD203B41FA5}">
                      <a16:colId xmlns:a16="http://schemas.microsoft.com/office/drawing/2014/main" val="3837764972"/>
                    </a:ext>
                  </a:extLst>
                </a:gridCol>
              </a:tblGrid>
              <a:tr h="900386">
                <a:tc>
                  <a:txBody>
                    <a:bodyPr/>
                    <a:lstStyle/>
                    <a:p>
                      <a:pPr algn="ctr"/>
                      <a:endParaRPr lang="en-IN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066126"/>
                  </a:ext>
                </a:extLst>
              </a:tr>
              <a:tr h="9003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after successful compilation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immediately after translating each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25522"/>
                  </a:ext>
                </a:extLst>
              </a:tr>
              <a:tr h="900386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Executable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Executable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create an executable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734964"/>
                  </a:ext>
                </a:extLst>
              </a:tr>
              <a:tr h="900386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all errors after compilation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errors one by one during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05932"/>
                  </a:ext>
                </a:extLst>
              </a:tr>
              <a:tr h="900386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519652"/>
                  </a:ext>
                </a:extLst>
              </a:tr>
              <a:tr h="900386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memory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memory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95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72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BAC1-C3AE-45DF-BA9D-C46AE7D8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WORLD EXAMPLE AND APPLICATIONS</a:t>
            </a:r>
            <a:br>
              <a:rPr lang="en-US" b="1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2FA4-E43C-4657-A2DB-6FEE6CC13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135" y="1336045"/>
            <a:ext cx="5517930" cy="24857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 Compiler: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Applications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4C361-40E6-2C5E-4965-894BEB1EE386}"/>
              </a:ext>
            </a:extLst>
          </p:cNvPr>
          <p:cNvSpPr txBox="1"/>
          <p:nvPr/>
        </p:nvSpPr>
        <p:spPr>
          <a:xfrm>
            <a:off x="6095999" y="1253332"/>
            <a:ext cx="6001407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an Interpreter: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Rapid Prototyping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Programming </a:t>
            </a:r>
          </a:p>
          <a:p>
            <a:endParaRPr lang="en-IN"/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57D5D-B057-E389-F995-7C4C7DA1310D}"/>
              </a:ext>
            </a:extLst>
          </p:cNvPr>
          <p:cNvSpPr txBox="1"/>
          <p:nvPr/>
        </p:nvSpPr>
        <p:spPr>
          <a:xfrm>
            <a:off x="599090" y="3977155"/>
            <a:ext cx="1098331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REAL-LIFE ANALOGY:</a:t>
            </a:r>
          </a:p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Compiler 📚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Like translating an entire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into another language before anyone reads it.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is done once, and the translated book can be read many times. </a:t>
            </a:r>
          </a:p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Interpreter 🎤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Like translating a </a:t>
            </a: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sentence by sentence while the speaker is talking.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happens continuously as the speech is delivered.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5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0C77-8F15-3A4B-461C-7CB384C2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217" y="837212"/>
            <a:ext cx="6232340" cy="53460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68E98-B1A6-FF29-5441-5802C6D01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07" y="1499137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processors are essential for executing programs written in high-level languages.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Compilers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are best suited for high-performance applications.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are ideal for scripting, testing, and rapid development.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both helps programmers choose the right tool for different programming tasks.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between a compiler and an interpreter depends on the application's performance and development needs.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Knowing their strengths and limitations helps developers choose the most suitable approach for software development.</a:t>
            </a:r>
            <a:endParaRPr lang="en-GB" sz="2400" b="0" i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3C3E5A3-F575-4842-99FB-4E90CEA1F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4513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71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0C249B-5341-8398-57C8-8AC92E099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1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8A96EE-5ED4-E2CE-28C5-5D3DFD655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39" y="432619"/>
            <a:ext cx="9350477" cy="591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8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</vt:lpstr>
      <vt:lpstr>REAL WORLD EXAMPLE AND APPLICATIONS </vt:lpstr>
      <vt:lpstr>CONCLUSION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creator>Rahul Babu</dc:creator>
  <cp:lastModifiedBy>ARUNPRASATH R</cp:lastModifiedBy>
  <cp:revision>2</cp:revision>
  <dcterms:created xsi:type="dcterms:W3CDTF">2026-04-28T16:19:06Z</dcterms:created>
  <dcterms:modified xsi:type="dcterms:W3CDTF">2026-07-25T04:33:49Z</dcterms:modified>
</cp:coreProperties>
</file>